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말빛은 뇌병변장애인이 큰 버튼을 눌러 의사를 문장과 음성으로 표현하는 AAC 웹앱입니다. 오늘은 시연판을 보여드립니다. 실제 이용인 정보는 일절 사용하지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요약: 한 번 누르면 바로 말합니다. 가상 이용인 세 명으로 개인맞춤을 보여드립니다. 제안서의 1·2단계까지만 구현했습니다. 예산·인력·실제 이용인 정보는 요청드리지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의사소통이 막히면 반복, 추측, 거부 의사의 지연, 그리고 오해가 생깁니다. 필요한 것은 이용인이 직접 고르고 확인해서 전달하는 수단입니다.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부분입니다. 버튼 한 번이면 소리가 납니다. 중간 단계가 없습니다. 다만 확인 단계가 필요한 이용인은 설정에서 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화면입니다. 예, 아니요부터 시작합니다. 한 화면에 여섯 개만 두어 고르기 쉽게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생활과 활동 표현판입니다. 참여하겠다는 표현과 거부하겠다는 표현을 같은 비중으로 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준비된 표현에 없는 말은 단어를 이어서 만듭니다. 잘못 넣은 단어는 그 단어만 눌러서 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상대방용 큰 화면입니다. 다시 듣기, 기다려달라는 표시, 맞는지 확인하는 버튼이 있습니다. 확정은 언제나 이용인이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도움 요청은 화면 어디에서나 아래에 고정되어 있습니다. 한 번 누르면 알림음과 함께 도와주세요가 최대 음량으로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보여드리고 싶은 부분입니다. 같은 앱인데 이용인마다 화면이 다릅니다. 설정에서 즉시 바꿔 보여드릴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오선택 예방 장치입니다. 다만 모두에게 강제하면 대화가 느려지므로 이용인별로 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설정은 이용화면과 분리되어 있습니다. 이용인이 쓰다가 실수로 설정을 바꾸지 않도록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원칙입니다. 거부하고 항의하고 대화를 끝내는 표현을 항상 함께 제공합니다. 도구가 순응을 유도하면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개인이 안전하게 시연할 수 있는 범위까지만 만들었습니다. 음성인식은 잘못 인식해도 자연스러운 문장으로 보이기 때문에 위험합니다.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비추면 바로 열립니다. 인터넷이 안 되는 자리에서는 오프라인 파일 하나만 USB로 옮기면 됩니다. 시연 전 음량을 꼭 올려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복지관 기여 방안 제안서 10 · 시연 보고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766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말빛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D8E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뇌병변장애인을 위한</a:t>
            </a:r>
            <a:endParaRPr lang="en-US" sz="21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D8E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개인맞춤형 의사소통 AAC 웹앱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이용인이 큰 버튼을 한 번 눌러 자신의 의사를 문장과 음성으로 표현합니다.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470916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17472F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8463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7D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시연판입니다. 모든 이용인과 표현은 가상의 예시이며, 실제 이용인 정보·음성자료·예산·인력은 사용하지 않습니다.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7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</a:t>
            </a:r>
            <a:endParaRPr lang="en-US" sz="1200" dirty="0"/>
          </a:p>
        </p:txBody>
      </p:sp>
      <p:pic>
        <p:nvPicPr>
          <p:cNvPr id="9" name="Image 0" descr="/tmp/claude-0/-home-user-sjb-10/c3f0fc35-f5a3-507c-9774-103256d9050f/scratchpad/shots/01-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81328"/>
            <a:ext cx="4023360" cy="32598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7635240" y="49057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A79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시연 화면 — 기본 표현판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보는 요약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클릭이면 음성이 나갑니다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누르는 즉시 문장이 음성으로 출력됩니다.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37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24323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필요의 가상 이용인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손떨림·스캔입력·기본 사용 예시를 각각 담았습니다.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37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12480" y="24323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까지만 구현했습니다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음성인식·발화 통역은 범위에 넣지 않았습니다.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886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복지관에 요청드리는 것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343400"/>
            <a:ext cx="329184" cy="3291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4325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이용인·가상 표현자료로 제안자가 개인적으로 제작하는 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855464"/>
            <a:ext cx="329184" cy="3291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48371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버튼형 기본 의사표시와 개인맞춤형 표현판을 시연하는 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5367528"/>
            <a:ext cx="329184" cy="3291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5349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제작된 시연물을 관장님과 희망하는 직원에게 보여드리는 것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370332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886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요청드리지 않는 것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20840" y="431596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편성과 사업 추진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개발인력·장비·유료서비스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이용인 정보와 음성자료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시스템 접근권한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전달되지 않을 때 생기는 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뇌병변장애인은 하고 싶은 말이 분명해도 발음이 상대방에게 명확히 전달되지 않을 수 있습니다. 이때 다음과 같은 상황이 생깁니다.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67528" cy="1536192"/>
          </a:xfrm>
          <a:prstGeom prst="roundRect">
            <a:avLst>
              <a:gd name="adj" fmla="val 5357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14600"/>
            <a:ext cx="603504" cy="60350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27632" y="2386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말을 여러 번 반복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7632" y="27706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전달되지 않아 이용인이 같은 표현을 되풀이해야 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2057400"/>
            <a:ext cx="5367528" cy="1536192"/>
          </a:xfrm>
          <a:prstGeom prst="roundRect">
            <a:avLst>
              <a:gd name="adj" fmla="val 5357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14600"/>
            <a:ext cx="603504" cy="60350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70064" y="2386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상대방이 의도를 추측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0064" y="27706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직원이 의미를 짐작하는 과정에서 실제 의도와 달라질 수 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13048"/>
            <a:ext cx="5367528" cy="1536192"/>
          </a:xfrm>
          <a:prstGeom prst="roundRect">
            <a:avLst>
              <a:gd name="adj" fmla="val 5357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270248"/>
            <a:ext cx="603504" cy="60350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270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27632" y="4142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거부·중단 의사가 늦게 전달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27632" y="45262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싫다는 뜻, 그만하고 싶다는 뜻이 제때 닿지 않습니다.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1072" y="3813048"/>
            <a:ext cx="5367528" cy="1536192"/>
          </a:xfrm>
          <a:prstGeom prst="roundRect">
            <a:avLst>
              <a:gd name="adj" fmla="val 5357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270248"/>
            <a:ext cx="603504" cy="60350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70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370064" y="4142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의사소통 실패가 오해로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70064" y="45262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전달되지 않은 것이 비협조나 문제행동으로 잘못 읽힐 수 있습니다.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742432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424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이용인이 자신의 의사를 직접 선택하고 확인해 상대방에게 전달할 수 있는 수단을 갖는 것입니다.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 — 누르면 바로 말합니다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01-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31720"/>
            <a:ext cx="3200400" cy="25930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66928" y="1819656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3856" y="1847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버튼을 누릅니다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50344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이용인이 하고 싶은 말을 직접 고릅니다.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22192" y="339964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000" dirty="0"/>
          </a:p>
        </p:txBody>
      </p:sp>
      <p:pic>
        <p:nvPicPr>
          <p:cNvPr id="10" name="Image 1" descr="/tmp/claude-0/-home-user-sjb-10/c3f0fc35-f5a3-507c-9774-103256d9050f/scratchpad/shots/05-sp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331720"/>
            <a:ext cx="3200400" cy="25930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443984" y="1819656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2" name="Text 8"/>
          <p:cNvSpPr/>
          <p:nvPr/>
        </p:nvSpPr>
        <p:spPr>
          <a:xfrm>
            <a:off x="4443984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10912" y="1847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음성이 나갑니다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43984" y="50344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팝업 없이 곧바로 소리가 납니다.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99248" y="339964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000" dirty="0"/>
          </a:p>
        </p:txBody>
      </p:sp>
      <p:pic>
        <p:nvPicPr>
          <p:cNvPr id="16" name="Image 2" descr="/tmp/claude-0/-home-user-sjb-10/c3f0fc35-f5a3-507c-9774-103256d9050f/scratchpad/shots/08-part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331720"/>
            <a:ext cx="3200400" cy="253486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7" name="Shape 12"/>
          <p:cNvSpPr/>
          <p:nvPr/>
        </p:nvSpPr>
        <p:spPr>
          <a:xfrm>
            <a:off x="8321040" y="1819656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8" name="Text 13"/>
          <p:cNvSpPr/>
          <p:nvPr/>
        </p:nvSpPr>
        <p:spPr>
          <a:xfrm>
            <a:off x="832104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887968" y="1847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크게 보여줍니다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21040" y="50344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잘 안 들리는 곳에서 화면으로 전달합니다.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66928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단계를 거치도록 바꿀 수도 있습니다. 손떨림이 있는 이용인은 〈이 문장이 맞습니까?〉를 켜서 오작동을 막습니다.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표현판 — 자주 쓰는 말을 한 번에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01-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029200" cy="407479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035040" y="1737360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1709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/ 아니요를 즉시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20848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기본이 되는 응답을 첫 화면 맨 위에 둡니다.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761488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0" y="2734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 6개만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31089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크게 하고 수를 줄여 고르기 쉽게 했습니다.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3785616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3758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그림과 글자를 함께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413308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읽기 어려운 이용인도 그림으로 찾을 수 있습니다.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4809744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0" y="4782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한 줄로 이동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83680" y="515721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기본·생활·활동·내 표현·문장을 한 번에 오갑니다.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35040" y="5532120"/>
            <a:ext cx="5596128" cy="749808"/>
          </a:xfrm>
          <a:prstGeom prst="roundRect">
            <a:avLst>
              <a:gd name="adj" fmla="val 10976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55321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〈도움 요청〉 버튼은 어느 화면에서나 항상 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 표현판 — 생활과 활동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복지관에서 자주 쓰이는 표현을 상황별로 나누되, 화면 이동이 복잡해지지 않도록 단계를 얕게 유지했습니다.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〈오늘은 쉬고 싶어요〉, 〈중단하고 싶어요〉처럼 거부와 중단을 나타내는 표현을 참여 표현과 같은 크기로 함께 둡니다.</a:t>
            </a:r>
            <a:endParaRPr lang="en-US" sz="1300" dirty="0"/>
          </a:p>
        </p:txBody>
      </p:sp>
      <p:pic>
        <p:nvPicPr>
          <p:cNvPr id="7" name="Image 0" descr="/tmp/claude-0/-home-user-sjb-10/c3f0fc35-f5a3-507c-9774-103256d9050f/scratchpad/shots/02-li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697480"/>
            <a:ext cx="4206240" cy="340801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1435608" y="618778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— 물, 식사, 화장실, 휴식, 더위와 추위</a:t>
            </a:r>
            <a:endParaRPr lang="en-US" sz="1100" dirty="0"/>
          </a:p>
        </p:txBody>
      </p:sp>
      <p:pic>
        <p:nvPicPr>
          <p:cNvPr id="9" name="Image 1" descr="/tmp/claude-0/-home-user-sjb-10/c3f0fc35-f5a3-507c-9774-103256d9050f/scratchpad/shots/03-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697480"/>
            <a:ext cx="4206240" cy="340801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6556248" y="618778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— 참여, 휴식, 시작, 중단, 속도, 담당자 호출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만들기 — 없는 말을 직접 조합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06-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4846320" cy="469762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06440" y="1609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준비된 표현에 없는 말은 이용인이 단어를 이어 직접 만듭니다.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06440" y="2084832"/>
            <a:ext cx="5852160" cy="777240"/>
          </a:xfrm>
          <a:prstGeom prst="roundRect">
            <a:avLst>
              <a:gd name="adj" fmla="val 10588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208483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 +  지금  +  헬스장에  +  가고 싶어요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06440" y="3246120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55080" y="32186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· 언제 · 어디 · 행동 · 마음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357530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단어를 뜻에 따라 나누어 찾기 쉽게 했습니다.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4233672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속 단어를 누르면 빠집니다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456285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단어만 골라 지울 수 있어 처음부터 다시 하지 않습니다.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06440" y="5221224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51937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만든 뒤 〈말하기〉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555040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완성되기 전에는 소리가 나가지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상대방에게 보여주는 화면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08-part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5943600" cy="470760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858000" y="16642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소리가 잘 들리지 않는 곳에서도 문장이 전달되도록, 확정된 문장을 화면 전체에 큰 글씨로 보여줍니다.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0" y="2569464"/>
            <a:ext cx="182880" cy="18288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7" name="Text 4"/>
          <p:cNvSpPr/>
          <p:nvPr/>
        </p:nvSpPr>
        <p:spPr>
          <a:xfrm>
            <a:off x="7178040" y="2487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듣기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78040" y="27980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상대방이 못 들었을 때 이용인이 다시 재생합니다.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3410712"/>
            <a:ext cx="182880" cy="18288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3328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기다려주세요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178040" y="36393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이용인이 다음 문장을 만드는 동안 상대방에게 알립니다.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4251960"/>
            <a:ext cx="182880" cy="18288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4169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맞아요 / 수정할게요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178040" y="44805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전달이 제대로 되었는지 이용인이 직접 확인합니다.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5093208"/>
            <a:ext cx="182880" cy="18288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50109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의사소통 안내문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178040" y="53218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이용인이 정한 대화 방법을 화면 아래에 함께 띄웁니다.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5779008"/>
            <a:ext cx="4800600" cy="603504"/>
          </a:xfrm>
          <a:prstGeom prst="roundRect">
            <a:avLst>
              <a:gd name="adj" fmla="val 1363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57790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상대방은 확인만 합니다. 대신 확정하지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요청 — 한 번 누르면 최대 음량으로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07-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1691640"/>
            <a:ext cx="4023360" cy="32598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pic>
        <p:nvPicPr>
          <p:cNvPr id="5" name="Image 1" descr="/tmp/claude-0/-home-user-sjb-10/c3f0fc35-f5a3-507c-9774-103256d9050f/scratchpad/shots/09-partner-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1764792"/>
            <a:ext cx="4023360" cy="318668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615288" y="50337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 표현은 일반 표현과 화면을 분리했습니다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53048" y="50337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누르는 즉시 상대방 화면에도 크게 표시됩니다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66928" y="5413248"/>
            <a:ext cx="3456432" cy="960120"/>
          </a:xfrm>
          <a:prstGeom prst="roundRect">
            <a:avLst>
              <a:gd name="adj" fmla="val 857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" y="5522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알림음이 먼저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95528" y="5815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음성이 나오기 전에 경보음을 울려 주변의 주의를 끕니다.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9392" y="5413248"/>
            <a:ext cx="3456432" cy="960120"/>
          </a:xfrm>
          <a:prstGeom prst="roundRect">
            <a:avLst>
              <a:gd name="adj" fmla="val 857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07992" y="5522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음량 설정 무시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5815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음량을 낮춰 두었어도 긴급 표현은 항상 최대로 나갑니다.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5413248"/>
            <a:ext cx="3456432" cy="960120"/>
          </a:xfrm>
          <a:prstGeom prst="roundRect">
            <a:avLst>
              <a:gd name="adj" fmla="val 857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0456" y="5522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단계 없음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0456" y="5815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상황에서 한 단계라도 늦어지지 않게 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앱, 이용인마다 다른 화면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이용인에게 같은 화면을 주지 않습니다. 신체기능과 의사소통 방식에 따라 버튼 크기, 색 대비, 입력 방식을 다르게 설정합니다.</a:t>
            </a:r>
            <a:endParaRPr lang="en-US" sz="1400" dirty="0"/>
          </a:p>
        </p:txBody>
      </p:sp>
      <p:pic>
        <p:nvPicPr>
          <p:cNvPr id="5" name="Image 0" descr="/tmp/claude-0/-home-user-sjb-10/c3f0fc35-f5a3-507c-9774-103256d9050f/scratchpad/shots/11-highcontr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38528"/>
            <a:ext cx="3063240" cy="248192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66928" y="4548465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이용인 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4822785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고대비 · 큰 버튼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097105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손떨림이 있어 버튼을 크게, 대비를 높이고 확인 단계를 켰습니다.</a:t>
            </a:r>
            <a:endParaRPr lang="en-US" sz="1100" dirty="0"/>
          </a:p>
        </p:txBody>
      </p:sp>
      <p:pic>
        <p:nvPicPr>
          <p:cNvPr id="9" name="Image 1" descr="/tmp/claude-0/-home-user-sjb-10/c3f0fc35-f5a3-507c-9774-103256d9050f/scratchpad/shots/12-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938528"/>
            <a:ext cx="3063240" cy="248192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562856" y="4548465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이용인 B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62856" y="4822785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입력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62856" y="5097105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누르기 어려워 항목이 강조될 때 확인키를 누릅니다.</a:t>
            </a:r>
            <a:endParaRPr lang="en-US" sz="1100" dirty="0"/>
          </a:p>
        </p:txBody>
      </p:sp>
      <p:pic>
        <p:nvPicPr>
          <p:cNvPr id="13" name="Image 2" descr="/tmp/claude-0/-home-user-sjb-10/c3f0fc35-f5a3-507c-9774-103256d9050f/scratchpad/shots/01-ba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938528"/>
            <a:ext cx="3063240" cy="248192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14" name="Text 9"/>
          <p:cNvSpPr/>
          <p:nvPr/>
        </p:nvSpPr>
        <p:spPr>
          <a:xfrm>
            <a:off x="8558784" y="4548465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이용인 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558784" y="4822785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설정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558784" y="5097105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손으로 눌러 사용합니다. 한 번에 말하기가 켜져 있습니다.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585216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자리에서 설정을 눌러 세 화면을 즉시 바꿔 보여드릴 수 있습니다. 실제 이용인에게 적용할 때도 같은 방식으로 맞춥니다.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눌리는 것을 막는 장치</a:t>
            </a:r>
            <a:endParaRPr lang="en-US" sz="3200" dirty="0"/>
          </a:p>
        </p:txBody>
      </p:sp>
      <p:pic>
        <p:nvPicPr>
          <p:cNvPr id="4" name="Image 0" descr="/tmp/claude-0/-home-user-sjb-10/c3f0fc35-f5a3-507c-9774-103256d9050f/scratchpad/shots/10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27632"/>
            <a:ext cx="4754880" cy="3852533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903720" y="556246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단계를 켠 가상 이용인 A의 화면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5453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크게, 사이를 넓게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89280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반대되는 기능을 가까이 두지 않습니다.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432304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4048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누르기 유지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75234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시간만큼 누르고 있어야 선택됩니다. 스치듯 닿는 것은 무시합니다.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291840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5568" y="32644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후 확인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361188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〈이 문장이 맞습니까?〉를 거쳐 확정합니다.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151376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1239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연속입력 방지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15568" y="447141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버튼이 짧은 시간에 두 번 눌리지 않습니다.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5010912"/>
            <a:ext cx="384048" cy="384048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4983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 표현 분리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5568" y="53309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표현은 일반 표현과 다른 화면에 둡니다.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5815584"/>
            <a:ext cx="5943600" cy="585216"/>
          </a:xfrm>
          <a:prstGeom prst="roundRect">
            <a:avLst>
              <a:gd name="adj" fmla="val 14063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581558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기능에 확인을 강제하면 대화가 느려집니다. 그래서 이용인별로 켜고 끕니다.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— 이용화면과 분리되어 있습니다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이용인이 쓰다가 실수로 바꾸지 않도록 설정은 이용화면과 분리했습니다. 아래는 〈입력과 확인〉 설정 화면입니다.</a:t>
            </a:r>
            <a:endParaRPr lang="en-US" sz="1400" dirty="0"/>
          </a:p>
        </p:txBody>
      </p:sp>
      <p:pic>
        <p:nvPicPr>
          <p:cNvPr id="5" name="Image 0" descr="/tmp/claude-0/-home-user-sjb-10/c3f0fc35-f5a3-507c-9774-103256d9050f/scratchpad/shots/15-inpu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5960"/>
            <a:ext cx="6675120" cy="329055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F14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66928" y="53388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설정을 바꾸면 앞서 보신 세 이용인의 화면이 서로 달라집니다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43800" y="1965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설정할 수 있는 것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43800" y="2395728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줄의 버튼 수와 버튼 크기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크기와 고대비 화면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표시 여부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후 확인, 누르기 유지시간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방식과 스캔 속도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음성의 빠르기와 음량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표현 추가 · 삭제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내보내기 · 가져오기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5806440"/>
            <a:ext cx="11064240" cy="585216"/>
          </a:xfrm>
          <a:prstGeom prst="roundRect">
            <a:avLst>
              <a:gd name="adj" fmla="val 14063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80644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시연판에는 실제 이용인 계정이 없습니다. 〈가상 이용인 A·B·C〉만 제공하며, 자료는 시연 기기 안에만 저장됩니다.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의사소통 도구가 순응을 유도하는</a:t>
            </a:r>
            <a:endParaRPr lang="en-US" sz="33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수단이 되지 않도록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표현은 특별한 이유 없이 삭제하거나 숨기지 않습니다. 시연판에서도 설정 화면에 잠금 표시로 안내됩니다.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520440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204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67128" y="3520440"/>
            <a:ext cx="1170432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35204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7016" y="3520440"/>
            <a:ext cx="2359152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352044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중단하고 싶어요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35624" y="3520440"/>
            <a:ext cx="2596896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3520440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중단해주세요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51976" y="3520440"/>
            <a:ext cx="1645920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3520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도와주세요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407408"/>
            <a:ext cx="3547872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07408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제가 직접 선택하겠습니다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44568" y="4407408"/>
            <a:ext cx="2596896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4407408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있고 싶어요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4407408"/>
            <a:ext cx="2596896" cy="658368"/>
          </a:xfrm>
          <a:prstGeom prst="roundRect">
            <a:avLst>
              <a:gd name="adj" fmla="val 50000"/>
            </a:avLst>
          </a:prstGeom>
          <a:solidFill>
            <a:srgbClr val="17472F"/>
          </a:solidFill>
          <a:ln w="15240">
            <a:solidFill>
              <a:srgbClr val="4E8B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4407408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F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이해하셨어요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웹앱은 이용인의 의사를 대신 판단하지 않습니다. 이용인이 선택한 내용을 전달하는 보조수단으로만 씁니다.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범위와 하지 않은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916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구현했습니다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— 버튼으로 의사를 표현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— 이용인별 표현·화면·음성·입력 맞춤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36192"/>
            <a:ext cx="5321808" cy="1965960"/>
          </a:xfrm>
          <a:prstGeom prst="roundRect">
            <a:avLst>
              <a:gd name="adj" fmla="val 4186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구현하지 않았습니다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12140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— 등록한 개인 발화를 인식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— 등록되지 않은 발화의 의미 추정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C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— 자유로운 발화의 실시간 통역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3794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3단계 이상을 넣지 않았는가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4279392"/>
            <a:ext cx="2651760" cy="1517904"/>
          </a:xfrm>
          <a:prstGeom prst="roundRect">
            <a:avLst>
              <a:gd name="adj" fmla="val 5422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특성의 개인차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" y="489204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뇌병변장애인의 발화는 사람마다 크게 다릅니다.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4279392"/>
            <a:ext cx="2651760" cy="1517904"/>
          </a:xfrm>
          <a:prstGeom prst="roundRect">
            <a:avLst>
              <a:gd name="adj" fmla="val 5422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학습자료 부족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47872" y="489204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비정형 발화를 학습할 자료가 제한적입니다.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4279392"/>
            <a:ext cx="2651760" cy="1517904"/>
          </a:xfrm>
          <a:prstGeom prst="roundRect">
            <a:avLst>
              <a:gd name="adj" fmla="val 5422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숨겨집니다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45936" y="489204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인식해도 자연스러운 문장이 되어 실제 의도처럼 보입니다.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4279392"/>
            <a:ext cx="2651760" cy="1517904"/>
          </a:xfrm>
          <a:prstGeom prst="roundRect">
            <a:avLst>
              <a:gd name="adj" fmla="val 5422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음성은 민감정보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0" y="489204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음성에는 개인식별정보와 건강상태가 드러날 수 있습니다.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이상은 기술 발전, 이용인 참여연구, 개인정보 보호체계, 전문가 검토가 확보된 뒤의 장기 검토과제로 둡니다.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눌러 보실 수 있습니다</a:t>
            </a:r>
            <a:endParaRPr lang="en-US" sz="3400" dirty="0"/>
          </a:p>
        </p:txBody>
      </p:sp>
      <p:pic>
        <p:nvPicPr>
          <p:cNvPr id="4" name="Image 0" descr="/tmp/claude-0/-home-user-sjb-10/c3f0fc35-f5a3-507c-9774-103256d9050f/scratchpad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205740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휴대전화 카메라로 비추면 열립니다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449884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FA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claude.ai/code/artifact/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7FA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854d6b86-b713-4531-9542-f29f86568e14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03320" y="2011680"/>
            <a:ext cx="7818120" cy="1024128"/>
          </a:xfrm>
          <a:prstGeom prst="roundRect">
            <a:avLst>
              <a:gd name="adj" fmla="val 7143"/>
            </a:avLst>
          </a:prstGeom>
          <a:solidFill>
            <a:srgbClr val="17472F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77640" y="2139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인터넷이 없어도 — 파일 하나로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77640" y="245059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〈말빛_시연판_오프라인.html〉을 USB로 옮겨 두 번 누르면 열립니다. 글씨체까지 그대로 나오며 설치가 필요 없습니다. 가장 확실한 방법입니다.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03320" y="3200400"/>
            <a:ext cx="7818120" cy="1024128"/>
          </a:xfrm>
          <a:prstGeom prst="roundRect">
            <a:avLst>
              <a:gd name="adj" fmla="val 7143"/>
            </a:avLst>
          </a:prstGeom>
          <a:solidFill>
            <a:srgbClr val="17472F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7640" y="33284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인터넷이 되면 — 주소로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977640" y="363931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QR이나 주소를 열면 바로 실행됩니다. 크롬 또는 사파리를 권합니다.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4389120"/>
            <a:ext cx="7818120" cy="1024128"/>
          </a:xfrm>
          <a:prstGeom prst="roundRect">
            <a:avLst>
              <a:gd name="adj" fmla="val 7143"/>
            </a:avLst>
          </a:prstGeom>
          <a:solidFill>
            <a:srgbClr val="17472F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77640" y="4517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시연 전 확인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977640" y="482803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D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음량을 올리고 무음 모드를 꺼 주십시오. 소리가 나가는 것이 이 앱의 핵심입니다.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5623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허락해 주시기를 요청드립니다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59618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자료로 제작 · 시연 · 관장님과 희망 직원께 보여드리는 것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63840" y="5961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F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말빛 · 복지관 기여 방안 제안서 10 · 2026. 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말빛 — 뇌병변장애인 개인맞춤형 의사소통 AAC 웹앱</dc:title>
  <dc:subject>PptxGenJS Presentation</dc:subject>
  <dc:creator>말빛 시연 제안</dc:creator>
  <cp:lastModifiedBy>말빛 시연 제안</cp:lastModifiedBy>
  <cp:revision>1</cp:revision>
  <dcterms:created xsi:type="dcterms:W3CDTF">2026-08-20T06:28:20Z</dcterms:created>
  <dcterms:modified xsi:type="dcterms:W3CDTF">2026-08-20T06:28:20Z</dcterms:modified>
</cp:coreProperties>
</file>